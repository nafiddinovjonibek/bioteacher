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FE9CC"/>
                </a:solidFill>
                <a:latin typeface="Calibri"/>
              </a:rPr>
              <a:t>ELEKTRON TA'LIM PLATFORMASI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Calibri"/>
              </a:rPr>
              <a:t>BioTeacher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0">
                <a:solidFill>
                  <a:srgbClr val="FFFFFF"/>
                </a:solidFill>
                <a:latin typeface="Calibri"/>
              </a:rPr>
              <a:t>Self-Development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6F6EB"/>
                </a:solidFill>
                <a:latin typeface="Calibri"/>
              </a:rPr>
              <a:t>Bo'lajak biologiya fani o'qituvchilarida o'z-o'zini rivojlantirish metodikasini takomillashtirishga xizmat qiluvchi veb-platforma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bioteacher.uz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E9CC"/>
                </a:solidFill>
                <a:latin typeface="Calibri"/>
              </a:rPr>
              <a:t>Seminar taqdimoti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NIMA UCHUN BU PLATFORMA KERAK?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Muammo va dolzarblik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700">
                <a:solidFill>
                  <a:srgbClr val="12261A"/>
                </a:solidFill>
                <a:latin typeface="Calibri"/>
              </a:rPr>
              <a:t>•  O'z-o'zini rivojlantirish o'lchanmaydi</a:t>
            </a:r>
            <a:r>
              <a:rPr sz="1700">
                <a:solidFill>
                  <a:srgbClr val="12261A"/>
                </a:solidFill>
                <a:latin typeface="Calibri"/>
              </a:rPr>
              <a:t> — talaba qayerda kuchli, qayerda zaif — aniq raqam yo'q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2261A"/>
                </a:solidFill>
                <a:latin typeface="Calibri"/>
              </a:rPr>
              <a:t>•  Jarayon uzilib qoladi</a:t>
            </a:r>
            <a:r>
              <a:rPr sz="1700">
                <a:solidFill>
                  <a:srgbClr val="12261A"/>
                </a:solidFill>
                <a:latin typeface="Calibri"/>
              </a:rPr>
              <a:t> — diagnostika bor, lekin maqsad, faoliyat, refleksiya bir-biriga bog'lanmagan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2261A"/>
                </a:solidFill>
                <a:latin typeface="Calibri"/>
              </a:rPr>
              <a:t>•  Refleksiya odat emas</a:t>
            </a:r>
            <a:r>
              <a:rPr sz="1700">
                <a:solidFill>
                  <a:srgbClr val="12261A"/>
                </a:solidFill>
                <a:latin typeface="Calibri"/>
              </a:rPr>
              <a:t> — shablon javoblar, tahlil chuqurligi past</a:t>
            </a:r>
          </a:p>
          <a:p>
            <a:pPr>
              <a:spcAft>
                <a:spcPts val="600"/>
              </a:spcAft>
            </a:pPr>
            <a:r>
              <a:rPr b="1" sz="1700">
                <a:solidFill>
                  <a:srgbClr val="12261A"/>
                </a:solidFill>
                <a:latin typeface="Calibri"/>
              </a:rPr>
              <a:t>•  Tadqiqot ma'lumoti tarqoq</a:t>
            </a:r>
            <a:r>
              <a:rPr sz="1700">
                <a:solidFill>
                  <a:srgbClr val="12261A"/>
                </a:solidFill>
                <a:latin typeface="Calibri"/>
              </a:rPr>
              <a:t> — tajriba-sinov natijalarini yig'ish va statistik qayta ishlash qo'lda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727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Yechim — BioTeacher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Diagnostika → maqsad → faoliyat → baholash → refleksiya → monitoring — yopiq sikl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Har bir qadam raqamli ko'rsatkichga aylanadi (5 komponent + SDI)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Refleksiya majburiy va sifati baholanadi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Tadqiqot uchun anonim, muzlatilgan o'lchovlar va tayyor statistika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TZ · 1-BO'LIM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Loyihaning maqsadi va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E5228"/>
                </a:solidFill>
                <a:latin typeface="Calibri"/>
              </a:rPr>
              <a:t>Maqsad: o'z-o'zini rivojlantirish jarayonini yopiq siklda tashkil etuvchi, natijalarni o'lchanadigan raqamli ko'rsatkichlarga aylantiruvchi va dissertatsiya tajriba-sinov ishi uchun statistik ishonchli ma'lumot to'playdigan veb-platforma yaratish.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743200"/>
          <a:ext cx="1106424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6766560"/>
                <a:gridCol w="3474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№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Vazifa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Natija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Boshlang'ich darajani 5 komponent bo'yicha aniqlash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Diagnostik profil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V-02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Individual rivojlanish traektoriyasini shakllantirish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Shaxsiy yo'l xaritasi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Kasbiy-pedagogik topshiriqlar bilan ta'minlash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Topshiriqlar banki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V-04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Faoliyat natijasini mezonli baholash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Rubrik asosidagi ball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Refleksiv ko'nikmani muntazam mashq qildirish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Refleksiya kundaligi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V-06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O'sish dinamikasini vizuallashtirish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Monitoring paneli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V-07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Tajriba/nazorat bo'linmalari ma'lumotini eksport qilish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CSV/XLSX + statistika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SR-01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Ilmiy asos: o'z-o'zini rivojlantirishning 5 komponentli modeli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38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651760"/>
                <a:gridCol w="3749039"/>
                <a:gridCol w="3749039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Kod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Komponent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Mazmuni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Qanday o'lchanadi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MOT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Motivatsion-qadriyatli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Kasbga qiziqish, o'sishga intilish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Likert anketa + faollik indeksi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COG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Kognitiv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Biologik va metodik bilim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Bloom darajali bilim testi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ACT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Faoliyatli-texnologik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Dars loyihalash, metod qo'llash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Amaliy topshiriq + rubrik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Refleksiv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O'z faoliyatini tahlil qilish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Kundalik sifati + rubrik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CRE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Kreativ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Nostandart pedagogik yechim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2261A"/>
                          </a:solidFill>
                          <a:latin typeface="Calibri"/>
                        </a:rPr>
                        <a:t>Ijodiy topshiriq + rubrik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02920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5E6F65"/>
                </a:solidFill>
                <a:latin typeface="Calibri"/>
              </a:rPr>
              <a:t>Platformadagi har bir savol, topshiriq va refleksiya aynan shu 5 komponentdan biriga bog'lanadi. Shuning uchun natija «umumiy ball» emas — qaysi ko'nikma o'sganini aniq ko'rsatadigan profil.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SR-03 · SR-04 · SR-06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O'lchanadigan model: SDI indeksi va daraja shkalasi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2103120"/>
          </a:xfrm>
          <a:prstGeom prst="roundRect">
            <a:avLst>
              <a:gd name="adj" fmla="val 8000"/>
            </a:avLst>
          </a:prstGeom>
          <a:solidFill>
            <a:srgbClr val="12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FE9CC"/>
                </a:solidFill>
                <a:latin typeface="Calibri"/>
              </a:rPr>
              <a:t>SDI — Self-Development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SDI = Σ (Kᵢ × Wᵢ)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5120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6F6EB"/>
                </a:solidFill>
                <a:latin typeface="Calibri"/>
              </a:rPr>
              <a:t>W: MOT 0.15 · COG 0.25 · ACT 0.25 · REF 0.20 · CRE 0.15   (Σ = 1.00)
Vaznlar adminda sozlanadi va har o'lchovda saqlanadi — retrospektiv qayta hisoblash mumkin.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794760"/>
          <a:ext cx="54864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737360"/>
                <a:gridCol w="2468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Ball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0–39 %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Boshlang'ich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Rivojlantirish zarur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40–59 %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Past-o'rta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Tizimli ish talab etiladi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60–74 %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O'rta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Yetarli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75–89 %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Yuqori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Yaxshi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90–100 %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Ijodiy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Namunali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400800" y="1463040"/>
            <a:ext cx="521208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72768"/>
            <a:ext cx="4846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4 ta majburiy kesim (SR-06)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65960"/>
            <a:ext cx="484632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INITIAL — boshlang'ich (ro'yxatdan o'tgach majburiy)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INTERIM_1 — 1-oraliq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INTERIM_2 — 2-oraliq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FINAL — yakuniy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Har kesim Measurement yozuvi sifatida MUZLATILADI — o'zgartirilmaydi, xato bo'lsa bekor qilinib yangisi yaratiladi (TZ 6.3)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Shkala rangi och yashildan to'q yashilga: foydalanuvchi boshqalar bilan emas, o'z oldingi natijasi bilan taqqoslanadi (SR-07)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TZ · 5-BO'LIM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Platforma algoritmi — takrorlanuvchi sikl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62763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Diagnostika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5 komponent profili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4630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26080" y="160020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2763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Daraja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SDI, kuchli/zaif tomonlar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66360" y="160020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162763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Maqsad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SMART reja, muddat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4630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06640" y="160020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162763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Traektoriya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zaif komponentga mos modullar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146304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46920" y="160020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162763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Mustaqil faoliyat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19456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BioBilim, Laboratoriya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2900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85800" y="356616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5935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Pedagogik 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16052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dars loyihasi, keyslar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88920" y="342900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6080" y="356616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5935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O'zini baholash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16052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rubrik bo'yicha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342900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66360" y="356616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15000" y="35935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Refleksiya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66360" y="416052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4 savol + kundalik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342900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406640" y="356616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35935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Monitoring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416052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oraliq kesim, dinamika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09760" y="342900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646920" y="3566160"/>
            <a:ext cx="457200" cy="457200"/>
          </a:xfrm>
          <a:prstGeom prst="ellipse">
            <a:avLst/>
          </a:prstGeom>
          <a:solidFill>
            <a:srgbClr val="1784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5560" y="3593592"/>
            <a:ext cx="1325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E5228"/>
                </a:solidFill>
                <a:latin typeface="Calibri"/>
              </a:rPr>
              <a:t>Keyingi yo'nalish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4160520"/>
            <a:ext cx="1828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E6F65"/>
                </a:solidFill>
                <a:latin typeface="Calibri"/>
              </a:rPr>
              <a:t>traektoriya qayta hisoblanadi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F65"/>
                </a:solidFill>
                <a:latin typeface="Calibri"/>
              </a:rPr>
              <a:t>FR-67: har kesimdan keyin yoki 10 ta topshiriq bajarilganda komponent ballari yangilanadi va eng past 2 komponentga mos topshiriqlar navbatga qo'yiladi.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IKKI ROL — SODDA VA ANIQ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Foydalanuvchi rollari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O'qituvchi (o'rganuvchi)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Ro'yxatdan o'tadi → majburiy boshlang'ich diagnostika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Barcha modullar: BioBilim, testlar, laboratoriya, pedagogik keyslar, ijodiy topshiriqlar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Maqsad qo'yadi, refleksiya yozadi, o'z ishini o'zi baholaydi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Faqat O'Z natijasini ko'radi — boshqalarniki yopiq (FR-00, NFR-12)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Kontentni o'zgartira olmaydi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Boshqaruv paneli: barcha o'qituvchilar, SDI, xavf ostidagilar, umumiy analitika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Tekshirish navbati, rubrika bo'yicha baholash, maqsadga izoh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E'lon va topshiriq tayinlash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Saytning o'zida to'liq CRUD: 36 ta model, arxiv/tiklash, audit jurnali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Tadqiqot paneli: bo'linmalar (E/C), statistika, anonim eksport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FR-06 … FR-12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M2 · «Men qanday o'qituvchiman?» — Diagnostika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Bloklanadigan onboarding</a:t>
            </a:r>
            <a:r>
              <a:rPr sz="1600">
                <a:solidFill>
                  <a:srgbClr val="12261A"/>
                </a:solidFill>
                <a:latin typeface="Calibri"/>
              </a:rPr>
              <a:t> — diagnostika tugamaguncha platforma ochilmaydi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Likert anketa</a:t>
            </a:r>
            <a:r>
              <a:rPr sz="1600">
                <a:solidFill>
                  <a:srgbClr val="12261A"/>
                </a:solidFill>
                <a:latin typeface="Calibri"/>
              </a:rPr>
              <a:t> — 5 komponent × 10 savol, 1–5 shkala, teskari savollar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Bilim testi</a:t>
            </a:r>
            <a:r>
              <a:rPr sz="1600">
                <a:solidFill>
                  <a:srgbClr val="12261A"/>
                </a:solidFill>
                <a:latin typeface="Calibri"/>
              </a:rPr>
              <a:t> — Bloom bo'yicha taqsimlangan savollar, tasodifiy tanlanma, vaqt limiti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Avtosaqlash</a:t>
            </a:r>
            <a:r>
              <a:rPr sz="1600">
                <a:solidFill>
                  <a:srgbClr val="12261A"/>
                </a:solidFill>
                <a:latin typeface="Calibri"/>
              </a:rPr>
              <a:t> — tugallanmagan urinish davom ettiriladi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Natija</a:t>
            </a:r>
            <a:r>
              <a:rPr sz="1600">
                <a:solidFill>
                  <a:srgbClr val="12261A"/>
                </a:solidFill>
                <a:latin typeface="Calibri"/>
              </a:rPr>
              <a:t> — komponent foizlari, SDI, radar-diagramma, kuchli/zaif tomonlar</a:t>
            </a:r>
          </a:p>
          <a:p>
            <a:pPr>
              <a:spcAft>
                <a:spcPts val="600"/>
              </a:spcAft>
            </a:pPr>
            <a:r>
              <a:rPr b="1" sz="1600">
                <a:solidFill>
                  <a:srgbClr val="12261A"/>
                </a:solidFill>
                <a:latin typeface="Calibri"/>
              </a:rPr>
              <a:t>•  Individual tavsiya</a:t>
            </a:r>
            <a:r>
              <a:rPr sz="1600">
                <a:solidFill>
                  <a:srgbClr val="12261A"/>
                </a:solidFill>
                <a:latin typeface="Calibri"/>
              </a:rPr>
              <a:t> — eng zaif 2 komponent → tegishli modullar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8463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57276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Hozirgi kontent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65960"/>
            <a:ext cx="44805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13 ta so'rovnoma (kesimlar bo'yicha)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341 ta savol — har biri komponent va Bloom darajasi bilan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Dars testlari (QUIZ) — kesim o'lchoviga aralashmaydi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Admin testni bitta sahifada yaratadi: savollar + variantlar + to'g'ri javob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FR-13 … FR-21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M3 · Maqsad qo'yish   |   M4 · BioBilim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«Mening maqsadim» — SMART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Maqsad · Muddat · Vazifalar · Resurslar · Kutilayotgan natija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Haftalik vazifalar checklist'i — bajarilish foizi avtomatik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Muddat yaqinlashganda eslatma (bildirishnoma + email)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Yopishdan oldin majburiy yakuniy refleksiya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Admin izoh qoldiradi va tasdiqlaydi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72768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«BioBilim» — kasbiy bilim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6596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Ierarxiya: Bo'lim → Mavzu → Dars → Material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Matn, rasm, video, PDF, havola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Har dars oxirida mustahkamlash testi; ≥70 % — «o'zlashtirildi»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Xato ko'p bo'lgan mavzu qayta tavsiya qilinadi (adaptiv rejim)</a:t>
            </a:r>
          </a:p>
          <a:p>
            <a:pPr>
              <a:spcAft>
                <a:spcPts val="3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Hozir: 4 bo'lim, 5 mavzu, 7 dars (kengaytiriladi)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FR-22 … FR-37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M5–M8 · Amaliy-pedagogik topshiriqlar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26974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Biologik laboratoriya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4 bosqich: Taxmin → Reja → Bashorat → Xulosa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Etalon yechim faqat yuborilgach ochiladi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O'z bahosi vs admin bahosi — baholash adekvatligi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463040"/>
            <a:ext cx="26974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727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Men — o'qituvchi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96596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Pedagogik keys banki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Muammo → metod → topshiriq → dars fragmenti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Dars loyihasi konstruktori, PDF eksport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463040"/>
            <a:ext cx="26974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15727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Raqamli biologiya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196596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Infografika, diagramma, taqdimot topshiriqlari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Fayl/havola yuklash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«Men buni bajara olaman» checklist'i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463040"/>
            <a:ext cx="26974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1572768"/>
            <a:ext cx="2331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Kreativ o'qituvchi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1965960"/>
            <a:ext cx="233172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Ochiq ijodiy topshiriqlar, erkin format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Ixtiyoriy ijodiy galereya (rozilik bilan)</a:t>
            </a:r>
          </a:p>
          <a:p>
            <a:pPr>
              <a:spcAft>
                <a:spcPts val="300"/>
              </a:spcAft>
            </a:pPr>
            <a:r>
              <a:rPr sz="1200">
                <a:solidFill>
                  <a:srgbClr val="12261A"/>
                </a:solidFill>
                <a:latin typeface="Calibri"/>
              </a:rPr>
              <a:t>•  Rubrika: originallik, asoslilik, qo'llanuvchanlik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F65"/>
                </a:solidFill>
                <a:latin typeface="Calibri"/>
              </a:rPr>
              <a:t>Barcha topshiriqlar bitta mexanizm: bosqichli javob → o'zini baholash (rubrika) → yuborish → admin bahosi → refleksiya. 14 ta topshiriq, 5 ta rubrika.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FR-38 … FR-52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M9–M11 · Refleksiya, Monitoring, Yutuqlar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Refleksiya kundaligi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004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Har topshiriqdan keyin 4 majburiy savol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Erkin yozuvlar, teglar, qidiruv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≥120 belgi — shablon javobga qarshi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Sifat bahosi → REF komponentiga hissa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Maxfiy: faqat muallif va admin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5727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Mening rivojlanishim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965960"/>
            <a:ext cx="32004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Radar-diagramma: 5 komponent, kesimlar ustma-ust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SDI dinamikasi (chiziqli grafik)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Komponent × kesim jadvali, Δ o'sish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Avtomatik matnli xulosa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Shaxsiy hisobot 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5661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7276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Mening yutuqlarim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65960"/>
            <a:ext cx="32004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9 ta nishon, sozlanadigan qoidalar (metrika + chegara)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Ochiq reyting YO'Q — faqat shaxsiy o'sish (SR-07)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«Bugungi 15 daqiqa» — kunlik mikro-topshiriq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Streak — ketma-ket faol kunlar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SAYTNING O'ZIDA — DJANGO ADMIN'SIZ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M12 · Administrator boshqaruv paneli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O'qituvchilar ro'yxati</a:t>
            </a:r>
            <a:r>
              <a:rPr sz="1500">
                <a:solidFill>
                  <a:srgbClr val="12261A"/>
                </a:solidFill>
                <a:latin typeface="Calibri"/>
              </a:rPr>
              <a:t> — SDI, daraja, oxirgi faollik, tekshirilmagan ishlar; xavf ostidagilar ajratilgan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Analitika</a:t>
            </a:r>
            <a:r>
              <a:rPr sz="1500">
                <a:solidFill>
                  <a:srgbClr val="12261A"/>
                </a:solidFill>
                <a:latin typeface="Calibri"/>
              </a:rPr>
              <a:t> — o'rtacha, mediana, eng zaif komponent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Tekshirish navbati</a:t>
            </a:r>
            <a:r>
              <a:rPr sz="1500">
                <a:solidFill>
                  <a:srgbClr val="12261A"/>
                </a:solidFill>
                <a:latin typeface="Calibri"/>
              </a:rPr>
              <a:t> — rubrika bo'yicha baholash + matnli fikr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E'lon va topshiriq tayinlash</a:t>
            </a:r>
            <a:r>
              <a:rPr sz="1500">
                <a:solidFill>
                  <a:srgbClr val="12261A"/>
                </a:solidFill>
                <a:latin typeface="Calibri"/>
              </a:rPr>
              <a:t> — barcha o'qituvchilarga bildirishnoma + email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Ma'lumotlar (CRUD)</a:t>
            </a:r>
            <a:r>
              <a:rPr sz="1500">
                <a:solidFill>
                  <a:srgbClr val="12261A"/>
                </a:solidFill>
                <a:latin typeface="Calibri"/>
              </a:rPr>
              <a:t> — 36 model, qidiruv, filtr, arxiv/tiklash, audit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727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Sodda «quruvchi» sahifalar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Test / anketa — savollar, variantlar, to'g'ri javob bitta sahifada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Rubrika + mezonlar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Nishon + berish qoidalari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Dars + materiallar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Bo'lim + mavzular, Mavzu + darslar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Slug'lar avtomatik, tekshiruv serverda (kamida 2 variant, aynan 1 to'g'ri javob)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FR-58 … FR-63 · NFR-17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M13 · Tadqiqot moduli — dissertatsiya uchun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Bo'linmalar</a:t>
            </a:r>
            <a:r>
              <a:rPr sz="1500">
                <a:solidFill>
                  <a:srgbClr val="12261A"/>
                </a:solidFill>
                <a:latin typeface="Calibri"/>
              </a:rPr>
              <a:t> — har respondent tajriba (E) yoki nazorat (C) bo'linmasiga biriktiriladi — o'zi bilmaydi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Anonimlik</a:t>
            </a:r>
            <a:r>
              <a:rPr sz="1500">
                <a:solidFill>
                  <a:srgbClr val="12261A"/>
                </a:solidFill>
                <a:latin typeface="Calibri"/>
              </a:rPr>
              <a:t> — eksportda F.I.Sh. o'rniga barqaror respondent_id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Eksport</a:t>
            </a:r>
            <a:r>
              <a:rPr sz="1500">
                <a:solidFill>
                  <a:srgbClr val="12261A"/>
                </a:solidFill>
                <a:latin typeface="Calibri"/>
              </a:rPr>
              <a:t> — CSV / XLSX: respondent_id, group, cut, MOT, COG, ACT, REF, CRE, SDI, date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Tavsifiy statistika</a:t>
            </a:r>
            <a:r>
              <a:rPr sz="1500">
                <a:solidFill>
                  <a:srgbClr val="12261A"/>
                </a:solidFill>
                <a:latin typeface="Calibri"/>
              </a:rPr>
              <a:t> — n, M, SD, min, max, Δ — kesim × bo'linma × komponent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Taqqoslash</a:t>
            </a:r>
            <a:r>
              <a:rPr sz="1500">
                <a:solidFill>
                  <a:srgbClr val="12261A"/>
                </a:solidFill>
                <a:latin typeface="Calibri"/>
              </a:rPr>
              <a:t> — E va C uchun boshlang'ich/yakuniy, Δ farqi, t-mezon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12261A"/>
                </a:solidFill>
                <a:latin typeface="Calibri"/>
              </a:rPr>
              <a:t>•  Rozilik</a:t>
            </a:r>
            <a:r>
              <a:rPr sz="1500">
                <a:solidFill>
                  <a:srgbClr val="12261A"/>
                </a:solidFill>
                <a:latin typeface="Calibri"/>
              </a:rPr>
              <a:t> — tadqiqotda ishtirok — faqat foydalanuvchi roziligi bilan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155448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822960"/>
                <a:gridCol w="201168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Kesim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 (n)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 (n)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Nima o'lchanadi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INITIAL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≈12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≈12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Boshlang'ich holat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INTERIM_1/2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Oraliq dinamika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≈12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≈12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2261A"/>
                          </a:solidFill>
                          <a:latin typeface="Calibri"/>
                        </a:rPr>
                        <a:t>Yakuniy natija, 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0" y="3383280"/>
            <a:ext cx="493776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E6F65"/>
                </a:solidFill>
                <a:latin typeface="Calibri"/>
              </a:rPr>
              <a:t>Demo rejimda 24 respondent va modellashtirilgan o'lchovlar bilan statistika moduli sinovdan o'tgan. Haqiqiy tajriba oldidan demo ma'lumot tozalanadi.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TZ · 8–9-BO'LIM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Texnologiyalar va xavfsizlik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56692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Qatlam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Yechim</a:t>
                      </a:r>
                    </a:p>
                  </a:txBody>
                  <a:tcPr marL="73152" marR="73152" marT="36576" marB="36576">
                    <a:solidFill>
                      <a:srgbClr val="17843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Django 6.1 · Python 3.14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Ma'lumotlar bazasi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SQLite (dev) → PostgreSQL (prod)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Django Templates + Tailwind CSS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Diagrammalar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Chart.js (radar, line, bar)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Eksport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openpyxl (XLSX) · xhtml2pdf (PDF)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Statika / deploy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2261A"/>
                          </a:solidFill>
                          <a:latin typeface="Calibri"/>
                        </a:rPr>
                        <a:t>WhiteNoise · bioteacher.uz</a:t>
                      </a:r>
                    </a:p>
                  </a:txBody>
                  <a:tcPr marL="73152" marR="73152" marT="36576" marB="36576"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583680" y="1463040"/>
            <a:ext cx="50292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72768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E5228"/>
                </a:solidFill>
                <a:latin typeface="Calibri"/>
              </a:rPr>
              <a:t>Xavfsizlik va butunlik (NFR)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965960"/>
            <a:ext cx="466344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Email tasdiqlash, parol tiklash, login urinishlarini cheklash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Rolga asoslangan ruxsat; IDOR himoyasi — hech kim boshqaning ma'lumotini ko'rmaydi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HTTPS, HSTS, secure cookie (prod)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Barcha o'chirishlar soft-delete — tadqiqot ma'lumoti yo'qolmaydi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Measurement immutable; audit jurnali (kim, qachon, nima)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2261A"/>
                </a:solidFill>
                <a:latin typeface="Calibri"/>
              </a:rPr>
              <a:t>•  187 ta avtomatik test — har o'zgarishda tekshiriladi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FE9CC"/>
                </a:solidFill>
                <a:latin typeface="Calibri"/>
              </a:rPr>
              <a:t>2026-YIL SENTYABR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Loyihaning hozirgi holati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457200"/>
            <a:ext cx="822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BFE9CC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E6F65"/>
                </a:solidFill>
                <a:latin typeface="Calibri"/>
              </a:rPr>
              <a:t>BioTeacher — Self-Development Platform · bioteacher.uz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modul (M1–M14)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16002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341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diagnostik savol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8" y="14630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18" y="16002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8" y="23317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topshiriq · 5 rubrika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nishon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3063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32004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3931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model — to'liq CRUD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8" y="3063240"/>
            <a:ext cx="3566160" cy="1417320"/>
          </a:xfrm>
          <a:prstGeom prst="roundRect">
            <a:avLst>
              <a:gd name="adj" fmla="val 8000"/>
            </a:avLst>
          </a:prstGeom>
          <a:solidFill>
            <a:srgbClr val="EAF6EE"/>
          </a:solidFill>
          <a:ln w="12700">
            <a:solidFill>
              <a:srgbClr val="D7E2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18" y="3200400"/>
            <a:ext cx="310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7843F"/>
                </a:solidFill>
                <a:latin typeface="Calibri"/>
              </a:rPr>
              <a:t>187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3931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2261A"/>
                </a:solidFill>
                <a:latin typeface="Calibri"/>
              </a:rPr>
              <a:t>avtomatik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Platforma ishlab turibdi: bioteacher.uz (najo.uz orqali ham)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2261A"/>
                </a:solidFill>
                <a:latin typeface="Calibri"/>
              </a:rPr>
              <a:t>•  Keyingi qadam: kontent hajmini TZ minimumiga yetkazish (120 test savoli, 40 lab topshiriq, 30 keys, 60 dars) va haqiqiy tajriba-sinovni boshlash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5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O'z-o'zini rivojlantirish — endi mavhum tushuncha emas, 5 komponent va SDI orqali O'LCHANADIGAN jarayon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Diagnostika → maqsad → faoliyat → baholash → refleksiya → monitoring sikli bitta platformada yopiladi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Refleksiya majburiy va sifat jihatidan baholanadi — refleksiv kompetensiya shakllanadi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Tadqiqotchi uchun: muzlatilgan kesimlar, anonim eksport, tayyor statistika — dissertatsiya jadvallari bir tugma bilan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FFFFF"/>
                </a:solidFill>
                <a:latin typeface="Calibri"/>
              </a:rPr>
              <a:t>•  Admin butun kontentni saytning o'zida boshqaradi — dasturchiga bog'liqlik yo'q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120640"/>
            <a:ext cx="10515600" cy="45720"/>
          </a:xfrm>
          <a:prstGeom prst="rect">
            <a:avLst/>
          </a:prstGeom>
          <a:solidFill>
            <a:srgbClr val="178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49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E'tiboringiz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BFE9CC"/>
                </a:solidFill>
                <a:latin typeface="Calibri"/>
              </a:rPr>
              <a:t>bioteacher.uz  ·  Demo: admin@bioteacher.uz / oqituvchi1@bioteacher.uz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