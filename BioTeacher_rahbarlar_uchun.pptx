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BioTeacher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Calibri"/>
              </a:rPr>
              <a:t>Bo'lajak biologiya o'qituvchisi uchun</a:t>
            </a:r>
          </a:p>
          <a:p>
            <a:pPr algn="l"/>
            <a:r>
              <a:rPr sz="3200" b="0">
                <a:solidFill>
                  <a:srgbClr val="FFFFFF"/>
                </a:solidFill>
                <a:latin typeface="Calibri"/>
              </a:rPr>
              <a:t>shaxsiy rivojlanish sayti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206240"/>
            <a:ext cx="22860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6F6EB"/>
                </a:solidFill>
                <a:latin typeface="Calibri"/>
              </a:rPr>
              <a:t>Talaba o'zini sinaydi → maqsad qo'yadi → mashq qiladi → o'sishini ko'radi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bioteacher.uz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E5228"/>
                </a:solidFill>
                <a:latin typeface="Calibri"/>
              </a:rPr>
              <a:t>Bu nima?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F65"/>
                </a:solidFill>
                <a:latin typeface="Calibri"/>
              </a:rPr>
              <a:t>BioTeacher · bioteacher.uz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E6F65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698480" cy="2194560"/>
          </a:xfrm>
          <a:prstGeom prst="roundRect">
            <a:avLst>
              <a:gd name="adj" fmla="val 10000"/>
            </a:avLst>
          </a:prstGeom>
          <a:solidFill>
            <a:srgbClr val="EAF6EE"/>
          </a:solidFill>
          <a:ln w="15875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2261A"/>
                </a:solidFill>
                <a:latin typeface="Calibri"/>
              </a:rPr>
              <a:t>Bu — bo'lajak biologiya o'qituvchisi uchun «shaxsiy murabbiy» vazifasini bajaradigan sayt.</a:t>
            </a:r>
          </a:p>
          <a:p>
            <a:pPr algn="l"/>
            <a:r>
              <a:rPr sz="2200" b="0">
                <a:solidFill>
                  <a:srgbClr val="12261A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2261A"/>
                </a:solidFill>
                <a:latin typeface="Calibri"/>
              </a:rPr>
              <a:t>U talabaga: qayerda kuchli, qayerda zaifligini ko'rsatadi, nima qilish kerakligini aytadi va vaqt o'tishi bilan qanchalik o'sganini raqamda ko'rsatadi.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E6F65"/>
                </a:solidFill>
                <a:latin typeface="Calibri"/>
              </a:rPr>
              <a:t>Oddiy qilib aytganda: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521208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80060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E5228"/>
                </a:solidFill>
                <a:latin typeface="Calibri"/>
              </a:rPr>
              <a:t>Fitnes-ilova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25780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E6F65"/>
                </a:solidFill>
                <a:latin typeface="Calibri"/>
              </a:rPr>
              <a:t>tanani rivojlantiradi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663440"/>
            <a:ext cx="5212080" cy="1280160"/>
          </a:xfrm>
          <a:prstGeom prst="roundRect">
            <a:avLst>
              <a:gd name="adj" fmla="val 10000"/>
            </a:avLst>
          </a:prstGeom>
          <a:solidFill>
            <a:srgbClr val="17843F"/>
          </a:solidFill>
          <a:ln w="15875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80060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BioTeacher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525780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o'qituvchilik mahoratini rivojlantiradi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502920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5E6F65"/>
                </a:solidFill>
                <a:latin typeface="Calibri"/>
              </a:rPr>
              <a:t>=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E5228"/>
                </a:solidFill>
                <a:latin typeface="Calibri"/>
              </a:rPr>
              <a:t>Bugungi muammo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E6F65"/>
                </a:solidFill>
                <a:latin typeface="Calibri"/>
              </a:rPr>
              <a:t>Talabalarni tayyorlashda nima yetishmaydi?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F65"/>
                </a:solidFill>
                <a:latin typeface="Calibri"/>
              </a:rPr>
              <a:t>BioTeacher · bioteacher.uz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E6F65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698480" cy="1280160"/>
          </a:xfrm>
          <a:prstGeom prst="roundRect">
            <a:avLst>
              <a:gd name="adj" fmla="val 10000"/>
            </a:avLst>
          </a:prstGeom>
          <a:solidFill>
            <a:srgbClr val="FDECEC"/>
          </a:solidFill>
          <a:ln w="15875">
            <a:solidFill>
              <a:srgbClr val="F5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057400"/>
            <a:ext cx="640080" cy="64008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74520"/>
            <a:ext cx="9326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B91C1C"/>
                </a:solidFill>
                <a:latin typeface="Calibri"/>
              </a:rPr>
              <a:t>Talaba o'zini bilmaydi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86000"/>
            <a:ext cx="9326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261A"/>
                </a:solidFill>
                <a:latin typeface="Calibri"/>
              </a:rPr>
              <a:t>«Men qanday o'qituvchiman?» — bu savolga aniq javob yo'q. Zaif tomon sezilmaydi, kuchli tomon rivojlanmaydi.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698480" cy="1280160"/>
          </a:xfrm>
          <a:prstGeom prst="roundRect">
            <a:avLst>
              <a:gd name="adj" fmla="val 10000"/>
            </a:avLst>
          </a:prstGeom>
          <a:solidFill>
            <a:srgbClr val="FDECEC"/>
          </a:solidFill>
          <a:ln w="15875">
            <a:solidFill>
              <a:srgbClr val="F5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3520440"/>
            <a:ext cx="640080" cy="64008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337560"/>
            <a:ext cx="9326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B91C1C"/>
                </a:solidFill>
                <a:latin typeface="Calibri"/>
              </a:rPr>
              <a:t>O'qituvchi hammaga yeta olmaydi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749040"/>
            <a:ext cx="9326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261A"/>
                </a:solidFill>
                <a:latin typeface="Calibri"/>
              </a:rPr>
              <a:t>Bir o'qituvchi o'nlab talabani kuzatishi, har biriga alohida maslahat berishi qiyin.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10698480" cy="1280160"/>
          </a:xfrm>
          <a:prstGeom prst="roundRect">
            <a:avLst>
              <a:gd name="adj" fmla="val 10000"/>
            </a:avLst>
          </a:prstGeom>
          <a:solidFill>
            <a:srgbClr val="FDECEC"/>
          </a:solidFill>
          <a:ln w="15875">
            <a:solidFill>
              <a:srgbClr val="F5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" y="4983480"/>
            <a:ext cx="640080" cy="64008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800600"/>
            <a:ext cx="9326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B91C1C"/>
                </a:solidFill>
                <a:latin typeface="Calibri"/>
              </a:rPr>
              <a:t>O'sish isbotlanmaydi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212080"/>
            <a:ext cx="9326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261A"/>
                </a:solidFill>
                <a:latin typeface="Calibri"/>
              </a:rPr>
              <a:t>«Talaba rivojlandi» deyish oson — lekin qancha? Qaysi ko'nikmada? Raqam yo'q.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E5228"/>
                </a:solidFill>
                <a:latin typeface="Calibri"/>
              </a:rPr>
              <a:t>Yechim: 5 qadamli aylanma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E6F65"/>
                </a:solidFill>
                <a:latin typeface="Calibri"/>
              </a:rPr>
              <a:t>Talaba saytda shu yo'lni har safar qaytadan bosib o'tadi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F65"/>
                </a:solidFill>
                <a:latin typeface="Calibri"/>
              </a:rPr>
              <a:t>BioTeacher · bioteacher.uz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E6F65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201168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17320" y="2103120"/>
            <a:ext cx="640080" cy="640080"/>
          </a:xfrm>
          <a:prstGeom prst="ellipse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E5228"/>
                </a:solidFill>
                <a:latin typeface="Calibri"/>
              </a:rPr>
              <a:t>Sinov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91840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E6F65"/>
                </a:solidFill>
                <a:latin typeface="Calibri"/>
              </a:rPr>
              <a:t>O'zini tekshiradi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761488" y="2788920"/>
            <a:ext cx="146304" cy="457200"/>
          </a:xfrm>
          <a:prstGeom prst="rightArrow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07792" y="1920240"/>
            <a:ext cx="201168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93592" y="2103120"/>
            <a:ext cx="640080" cy="640080"/>
          </a:xfrm>
          <a:prstGeom prst="ellipse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28346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E5228"/>
                </a:solidFill>
                <a:latin typeface="Calibri"/>
              </a:rPr>
              <a:t>Maqsad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3291840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E6F65"/>
                </a:solidFill>
                <a:latin typeface="Calibri"/>
              </a:rPr>
              <a:t>Nimani yaxshilashni tanlaydi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937760" y="2788920"/>
            <a:ext cx="146304" cy="457200"/>
          </a:xfrm>
          <a:prstGeom prst="rightArrow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84064" y="1920240"/>
            <a:ext cx="201168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69864" y="2103120"/>
            <a:ext cx="640080" cy="640080"/>
          </a:xfrm>
          <a:prstGeom prst="ellipse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4064" y="28346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E5228"/>
                </a:solidFill>
                <a:latin typeface="Calibri"/>
              </a:rPr>
              <a:t>Mashq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3291840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E6F65"/>
                </a:solidFill>
                <a:latin typeface="Calibri"/>
              </a:rPr>
              <a:t>Dars, topshiriq bajaradi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114032" y="2788920"/>
            <a:ext cx="146304" cy="457200"/>
          </a:xfrm>
          <a:prstGeom prst="rightArrow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60336" y="1920240"/>
            <a:ext cx="201168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46136" y="2103120"/>
            <a:ext cx="640080" cy="640080"/>
          </a:xfrm>
          <a:prstGeom prst="ellipse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0336" y="28346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E5228"/>
                </a:solidFill>
                <a:latin typeface="Calibri"/>
              </a:rPr>
              <a:t>Baho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97496" y="3291840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E6F65"/>
                </a:solidFill>
                <a:latin typeface="Calibri"/>
              </a:rPr>
              <a:t>O'zi va o'qituvchi baholaydi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290304" y="2788920"/>
            <a:ext cx="146304" cy="457200"/>
          </a:xfrm>
          <a:prstGeom prst="rightArrow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36608" y="1920240"/>
            <a:ext cx="201168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22408" y="2103120"/>
            <a:ext cx="640080" cy="640080"/>
          </a:xfrm>
          <a:prstGeom prst="ellipse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6608" y="28346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E5228"/>
                </a:solidFill>
                <a:latin typeface="Calibri"/>
              </a:rPr>
              <a:t>Xulosa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73768" y="3291840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E6F65"/>
                </a:solidFill>
                <a:latin typeface="Calibri"/>
              </a:rPr>
              <a:t>Nimani o'rgandim? — yozadi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343400"/>
            <a:ext cx="10698480" cy="457200"/>
          </a:xfrm>
          <a:prstGeom prst="roundRect">
            <a:avLst>
              <a:gd name="adj" fmla="val 10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E5228"/>
                </a:solidFill>
                <a:latin typeface="Calibri"/>
              </a:rPr>
              <a:t>⟲  va yana boshidan — har safar natija oldingisi bilan taqqoslanadi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074920"/>
            <a:ext cx="10698480" cy="1005840"/>
          </a:xfrm>
          <a:prstGeom prst="roundRect">
            <a:avLst>
              <a:gd name="adj" fmla="val 10000"/>
            </a:avLst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16636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Natija: talaba o'z-o'zidan o'sadi, o'qituvchi esa kimga yordam kerakligini bir qarashda ko'radi.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E5228"/>
                </a:solidFill>
                <a:latin typeface="Calibri"/>
              </a:rPr>
              <a:t>Nimani o'lchaymiz? — 5 ta ko'nikma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E6F65"/>
                </a:solidFill>
                <a:latin typeface="Calibri"/>
              </a:rPr>
              <a:t>Har biri 0 dan 100 gacha baholanadi, umumiy ball chiqadi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F65"/>
                </a:solidFill>
                <a:latin typeface="Calibri"/>
              </a:rPr>
              <a:t>BioTeacher · bioteacher.uz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E6F65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011680" cy="2651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0">
                <a:solidFill>
                  <a:srgbClr val="12261A"/>
                </a:solidFill>
                <a:latin typeface="Calibri"/>
              </a:rPr>
              <a:t>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0E5228"/>
                </a:solidFill>
                <a:latin typeface="Calibri"/>
              </a:rPr>
              <a:t>Xohish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08960"/>
            <a:ext cx="1737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E6F65"/>
                </a:solidFill>
                <a:latin typeface="Calibri"/>
              </a:rPr>
              <a:t>Kasbga qiziqish, o'sishga intilish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2" y="1828800"/>
            <a:ext cx="2011680" cy="2651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7792" y="196596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0">
                <a:solidFill>
                  <a:srgbClr val="12261A"/>
                </a:solidFill>
                <a:latin typeface="Calibri"/>
              </a:rPr>
              <a:t>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7792" y="26060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0E5228"/>
                </a:solidFill>
                <a:latin typeface="Calibri"/>
              </a:rPr>
              <a:t>Bilim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3108960"/>
            <a:ext cx="1737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E6F65"/>
                </a:solidFill>
                <a:latin typeface="Calibri"/>
              </a:rPr>
              <a:t>Biologiya va o'qitish usullarini bilish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4064" y="1828800"/>
            <a:ext cx="2011680" cy="2651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84064" y="196596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0">
                <a:solidFill>
                  <a:srgbClr val="12261A"/>
                </a:solidFill>
                <a:latin typeface="Calibri"/>
              </a:rPr>
              <a:t>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4064" y="26060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0E5228"/>
                </a:solidFill>
                <a:latin typeface="Calibri"/>
              </a:rPr>
              <a:t>Qila olish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3108960"/>
            <a:ext cx="1737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E6F65"/>
                </a:solidFill>
                <a:latin typeface="Calibri"/>
              </a:rPr>
              <a:t>Dars tuzish, metod qo'llash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0336" y="1828800"/>
            <a:ext cx="2011680" cy="2651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0336" y="196596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0">
                <a:solidFill>
                  <a:srgbClr val="12261A"/>
                </a:solidFill>
                <a:latin typeface="Calibri"/>
              </a:rP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0336" y="26060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0E5228"/>
                </a:solidFill>
                <a:latin typeface="Calibri"/>
              </a:rPr>
              <a:t>Tahlil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7496" y="3108960"/>
            <a:ext cx="1737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E6F65"/>
                </a:solidFill>
                <a:latin typeface="Calibri"/>
              </a:rPr>
              <a:t>O'z ishini tahlil qilib xulosa chiqarish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36608" y="1828800"/>
            <a:ext cx="2011680" cy="2651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36608" y="196596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0">
                <a:solidFill>
                  <a:srgbClr val="12261A"/>
                </a:solidFill>
                <a:latin typeface="Calibri"/>
              </a:rPr>
              <a:t>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36608" y="260604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0E5228"/>
                </a:solidFill>
                <a:latin typeface="Calibri"/>
              </a:rPr>
              <a:t>Ijod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73768" y="3108960"/>
            <a:ext cx="1737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E6F65"/>
                </a:solidFill>
                <a:latin typeface="Calibri"/>
              </a:rPr>
              <a:t>Yangi, nostandart yechim topish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754880"/>
            <a:ext cx="10698480" cy="1280160"/>
          </a:xfrm>
          <a:prstGeom prst="roundRect">
            <a:avLst>
              <a:gd name="adj" fmla="val 10000"/>
            </a:avLst>
          </a:prstGeom>
          <a:solidFill>
            <a:srgbClr val="EAF6EE"/>
          </a:solidFill>
          <a:ln w="15875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84632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E6F65"/>
                </a:solidFill>
                <a:latin typeface="Calibri"/>
              </a:rPr>
              <a:t>Misol — bitta talabaning natijasi: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25780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5228"/>
                </a:solidFill>
                <a:latin typeface="Calibri"/>
              </a:rPr>
              <a:t>Xohish 70   ·   Bilim 55   ·   Qila olish 40   ·   Tahlil 35   ·   Ijod 60      →      Umumiy: 51 ball — «Past-o'rta»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E5228"/>
                </a:solidFill>
                <a:latin typeface="Calibri"/>
              </a:rPr>
              <a:t>Talaba saytda nima qiladi?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E6F65"/>
                </a:solidFill>
                <a:latin typeface="Calibri"/>
              </a:rPr>
              <a:t>Oddiy bir kun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F65"/>
                </a:solidFill>
                <a:latin typeface="Calibri"/>
              </a:rPr>
              <a:t>BioTeacher · bioteacher.uz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E6F65"/>
                </a:solidFill>
                <a:latin typeface="Calibri"/>
              </a:rPr>
              <a:t>5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764792"/>
            <a:ext cx="411480" cy="411480"/>
          </a:xfrm>
          <a:prstGeom prst="ellipse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691640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E5228"/>
                </a:solidFill>
                <a:latin typeface="Calibri"/>
              </a:rPr>
              <a:t>Kirdi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691640"/>
            <a:ext cx="7315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2261A"/>
                </a:solidFill>
                <a:latin typeface="Calibri"/>
              </a:rPr>
              <a:t>Saytga kiradi — bosh sahifada o'z holati: qaysi ko'nikma qanday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386584"/>
            <a:ext cx="411480" cy="411480"/>
          </a:xfrm>
          <a:prstGeom prst="ellipse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313432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E5228"/>
                </a:solidFill>
                <a:latin typeface="Calibri"/>
              </a:rPr>
              <a:t>Sinov (birinchi marta)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313432"/>
            <a:ext cx="7315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2261A"/>
                </a:solidFill>
                <a:latin typeface="Calibri"/>
              </a:rPr>
              <a:t>30 daqiqalik anketa va test — natija: 5 ko'nikma bo'yicha diagramma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008376"/>
            <a:ext cx="411480" cy="411480"/>
          </a:xfrm>
          <a:prstGeom prst="ellipse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935224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E5228"/>
                </a:solidFill>
                <a:latin typeface="Calibri"/>
              </a:rPr>
              <a:t>Maqsad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935224"/>
            <a:ext cx="7315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2261A"/>
                </a:solidFill>
                <a:latin typeface="Calibri"/>
              </a:rPr>
              <a:t>«4 haftada dars tuzishni o'rganaman» — sayt haftalik vazifalar beradi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630168"/>
            <a:ext cx="411480" cy="411480"/>
          </a:xfrm>
          <a:prstGeom prst="ellipse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557016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E5228"/>
                </a:solidFill>
                <a:latin typeface="Calibri"/>
              </a:rPr>
              <a:t>Dars va topshiriq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557016"/>
            <a:ext cx="7315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2261A"/>
                </a:solidFill>
                <a:latin typeface="Calibri"/>
              </a:rPr>
              <a:t>Mavzuni o'qiydi, kichik test topshiradi, laboratoriya yoki dars loyihasi tayyorlaydi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251960"/>
            <a:ext cx="411480" cy="411480"/>
          </a:xfrm>
          <a:prstGeom prst="ellipse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178808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E5228"/>
                </a:solidFill>
                <a:latin typeface="Calibri"/>
              </a:rPr>
              <a:t>O'zini baholaydi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178808"/>
            <a:ext cx="7315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2261A"/>
                </a:solidFill>
                <a:latin typeface="Calibri"/>
              </a:rPr>
              <a:t>Mezonlar bo'yicha o'ziga ball qo'yadi, keyin o'qituvchi baholaydi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4873752"/>
            <a:ext cx="411480" cy="411480"/>
          </a:xfrm>
          <a:prstGeom prst="ellipse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800600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E5228"/>
                </a:solidFill>
                <a:latin typeface="Calibri"/>
              </a:rPr>
              <a:t>Xulosa yozadi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800600"/>
            <a:ext cx="7315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2261A"/>
                </a:solidFill>
                <a:latin typeface="Calibri"/>
              </a:rPr>
              <a:t>4 savol: Nimani o'rgandim? Nimani yaxshi qildim? Nimani rivojlantirish kerak? Keyingi safar?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" y="5495544"/>
            <a:ext cx="411480" cy="411480"/>
          </a:xfrm>
          <a:prstGeom prst="ellipse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422392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E5228"/>
                </a:solidFill>
                <a:latin typeface="Calibri"/>
              </a:rPr>
              <a:t>Yutuq oladi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5422392"/>
            <a:ext cx="7315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2261A"/>
                </a:solidFill>
                <a:latin typeface="Calibri"/>
              </a:rPr>
              <a:t>Nishonlar, ketma-ket faol kunlar — o'zi bilan raqobat, boshqalar bilan emas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E5228"/>
                </a:solidFill>
                <a:latin typeface="Calibri"/>
              </a:rPr>
              <a:t>Natija raqamda ko'rinadi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E6F65"/>
                </a:solidFill>
                <a:latin typeface="Calibri"/>
              </a:rPr>
              <a:t>Bir talabaning 4 oylik o'sishi (misol)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F65"/>
                </a:solidFill>
                <a:latin typeface="Calibri"/>
              </a:rPr>
              <a:t>BioTeacher · bioteacher.uz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E6F65"/>
                </a:solidFill>
                <a:latin typeface="Calibri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3762756"/>
            <a:ext cx="1097280" cy="1357884"/>
          </a:xfrm>
          <a:prstGeom prst="rect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305556"/>
            <a:ext cx="1463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E5228"/>
                </a:solidFill>
                <a:latin typeface="Calibri"/>
              </a:rPr>
              <a:t>45%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2120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E6F65"/>
                </a:solidFill>
                <a:latin typeface="Calibri"/>
              </a:rPr>
              <a:t>Sentyabr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3521355"/>
            <a:ext cx="1097280" cy="1599285"/>
          </a:xfrm>
          <a:prstGeom prst="rect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3064155"/>
            <a:ext cx="1463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E5228"/>
                </a:solidFill>
                <a:latin typeface="Calibri"/>
              </a:rPr>
              <a:t>53%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52120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E6F65"/>
                </a:solidFill>
                <a:latin typeface="Calibri"/>
              </a:rPr>
              <a:t>Oktyabr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3279953"/>
            <a:ext cx="1097280" cy="1840687"/>
          </a:xfrm>
          <a:prstGeom prst="rect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822753"/>
            <a:ext cx="1463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E5228"/>
                </a:solidFill>
                <a:latin typeface="Calibri"/>
              </a:rPr>
              <a:t>61%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52120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E6F65"/>
                </a:solidFill>
                <a:latin typeface="Calibri"/>
              </a:rPr>
              <a:t>Noyabr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3068727"/>
            <a:ext cx="1097280" cy="2051913"/>
          </a:xfrm>
          <a:prstGeom prst="rect">
            <a:avLst/>
          </a:prstGeom>
          <a:solidFill>
            <a:srgbClr val="0E5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80" y="2611527"/>
            <a:ext cx="1463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E5228"/>
                </a:solidFill>
                <a:latin typeface="Calibri"/>
              </a:rPr>
              <a:t>68%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52120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E6F65"/>
                </a:solidFill>
                <a:latin typeface="Calibri"/>
              </a:rPr>
              <a:t>Dekabr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5120640"/>
            <a:ext cx="6400800" cy="27432"/>
          </a:xfrm>
          <a:prstGeom prst="rect">
            <a:avLst/>
          </a:prstGeom>
          <a:solidFill>
            <a:srgbClr val="D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63840" y="1737360"/>
            <a:ext cx="3749039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1920240"/>
            <a:ext cx="32003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5228"/>
                </a:solidFill>
                <a:latin typeface="Calibri"/>
              </a:rPr>
              <a:t>Sayt o'zi xulosa yozadi: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514600"/>
            <a:ext cx="320039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2261A"/>
                </a:solidFill>
                <a:latin typeface="Calibri"/>
              </a:rPr>
              <a:t>•  «Tahlil ko'nikmangiz 4 oyda +23 ball o'sdi»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2261A"/>
                </a:solidFill>
                <a:latin typeface="Calibri"/>
              </a:rPr>
              <a:t>•  «Eng zaif joy — dars tuzish. Shu haftaga 2 ta topshiriq tavsiya qilamiz»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2261A"/>
                </a:solidFill>
                <a:latin typeface="Calibri"/>
              </a:rPr>
              <a:t>•  Diagramma va hisobot bir tugma bilan chop etiladi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669280"/>
            <a:ext cx="6583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5228"/>
                </a:solidFill>
                <a:latin typeface="Calibri"/>
              </a:rPr>
              <a:t>Boshida va oxirida o'lchaymiz — farq o'sishning isboti.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E5228"/>
                </a:solidFill>
                <a:latin typeface="Calibri"/>
              </a:rPr>
              <a:t>O'qituvchi va rahbar nimani ko'radi?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E6F65"/>
                </a:solidFill>
                <a:latin typeface="Calibri"/>
              </a:rPr>
              <a:t>Bitta ekranda — butun guruh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F65"/>
                </a:solidFill>
                <a:latin typeface="Calibri"/>
              </a:rPr>
              <a:t>BioTeacher · bioteacher.uz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E6F65"/>
                </a:solidFill>
                <a:latin typeface="Calibr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383280" cy="4023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5228"/>
                </a:solidFill>
                <a:latin typeface="Calibri"/>
              </a:rPr>
              <a:t>Ro'yxat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2261A"/>
                </a:solidFill>
                <a:latin typeface="Calibri"/>
              </a:rPr>
              <a:t>•  Har talabaning umumiy bali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2261A"/>
                </a:solidFill>
                <a:latin typeface="Calibri"/>
              </a:rPr>
              <a:t>•  Oxirgi marta qachon kirgani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2261A"/>
                </a:solidFill>
                <a:latin typeface="Calibri"/>
              </a:rPr>
              <a:t>•  Tekshirilmagan ishlari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2261A"/>
                </a:solidFill>
                <a:latin typeface="Calibri"/>
              </a:rPr>
              <a:t>•  Qizil belgi — yordam kerak bo'lganlar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383280" cy="4023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92024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5228"/>
                </a:solidFill>
                <a:latin typeface="Calibri"/>
              </a:rPr>
              <a:t>Umumiy holat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514600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2261A"/>
                </a:solidFill>
                <a:latin typeface="Calibri"/>
              </a:rPr>
              <a:t>•  Guruhning o'rtacha bali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2261A"/>
                </a:solidFill>
                <a:latin typeface="Calibri"/>
              </a:rPr>
              <a:t>•  Eng zaif ko'nikma — darsni shunga qaratish mumkin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2261A"/>
                </a:solidFill>
                <a:latin typeface="Calibri"/>
              </a:rPr>
              <a:t>•  Kim o'sayapti, kim to'xtab qolgan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3383280" cy="4023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92024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5228"/>
                </a:solidFill>
                <a:latin typeface="Calibri"/>
              </a:rPr>
              <a:t>Harakat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514600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2261A"/>
                </a:solidFill>
                <a:latin typeface="Calibri"/>
              </a:rPr>
              <a:t>•  Ishlarni mezon bo'yicha baholash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2261A"/>
                </a:solidFill>
                <a:latin typeface="Calibri"/>
              </a:rPr>
              <a:t>•  Talabaning maqsadiga izoh yozish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2261A"/>
                </a:solidFill>
                <a:latin typeface="Calibri"/>
              </a:rPr>
              <a:t>•  Hammaga e'lon yoki topshiriq yuborish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2261A"/>
                </a:solidFill>
                <a:latin typeface="Calibri"/>
              </a:rPr>
              <a:t>•  Test, dars, topshiriqni o'zi qo'shish — dasturchi kerak emas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E5228"/>
                </a:solidFill>
                <a:latin typeface="Calibri"/>
              </a:rPr>
              <a:t>Ilmiy ish uchun nima beradi?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E6F65"/>
                </a:solidFill>
                <a:latin typeface="Calibri"/>
              </a:rPr>
              <a:t>Dissertatsiya tajriba-sinovi tayyor tizimda o'tadi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F65"/>
                </a:solidFill>
                <a:latin typeface="Calibri"/>
              </a:rPr>
              <a:t>BioTeacher · bioteacher.uz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E6F65"/>
                </a:solidFill>
                <a:latin typeface="Calibr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1920240"/>
          </a:xfrm>
          <a:prstGeom prst="roundRect">
            <a:avLst>
              <a:gd name="adj" fmla="val 10000"/>
            </a:avLst>
          </a:prstGeom>
          <a:solidFill>
            <a:srgbClr val="EAF6EE"/>
          </a:solidFill>
          <a:ln w="15875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7843F"/>
                </a:solidFill>
                <a:latin typeface="Calibri"/>
              </a:rPr>
              <a:t>Tajriba guruhi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4572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261A"/>
                </a:solidFill>
                <a:latin typeface="Calibri"/>
              </a:rPr>
              <a:t>Platformada o'qiydi.</a:t>
            </a:r>
          </a:p>
          <a:p>
            <a:pPr algn="l"/>
            <a:r>
              <a:rPr sz="1700" b="0">
                <a:solidFill>
                  <a:srgbClr val="12261A"/>
                </a:solidFill>
                <a:latin typeface="Calibri"/>
              </a:rPr>
              <a:t>Boshida va oxirida o'lchanadi.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5120640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E6F65"/>
                </a:solidFill>
                <a:latin typeface="Calibri"/>
              </a:rPr>
              <a:t>Nazorat guruhi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4572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261A"/>
                </a:solidFill>
                <a:latin typeface="Calibri"/>
              </a:rPr>
              <a:t>Odatdagidek o'qiydi.</a:t>
            </a:r>
          </a:p>
          <a:p>
            <a:pPr algn="l"/>
            <a:r>
              <a:rPr sz="1700" b="0">
                <a:solidFill>
                  <a:srgbClr val="12261A"/>
                </a:solidFill>
                <a:latin typeface="Calibri"/>
              </a:rPr>
              <a:t>Boshida va oxirida o'lchanadi.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394960" y="3840480"/>
            <a:ext cx="1371600" cy="548640"/>
          </a:xfrm>
          <a:prstGeom prst="downArrow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526280"/>
            <a:ext cx="10698480" cy="1463040"/>
          </a:xfrm>
          <a:prstGeom prst="roundRect">
            <a:avLst>
              <a:gd name="adj" fmla="val 10000"/>
            </a:avLst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101498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Ikki guruh farqi = metodikaning samaradorligi.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Sayt barcha raqamlarni Excel'ga chiqaradi, jadval va diagrammalar dissertatsiyaga tayyor holda.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E6F65"/>
                </a:solidFill>
                <a:latin typeface="Calibri"/>
              </a:rPr>
              <a:t>Talabaning ismi hech qayerda chiqmaydi — faqat raqamli kod. Ishtirok — roziligi bilan.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E5228"/>
                </a:solidFill>
                <a:latin typeface="Calibri"/>
              </a:rPr>
              <a:t>Nega talaba qo'rqmaydi?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E6F65"/>
                </a:solidFill>
                <a:latin typeface="Calibri"/>
              </a:rPr>
              <a:t>Tizim jazolash uchun emas, o'sish uchun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F65"/>
                </a:solidFill>
                <a:latin typeface="Calibri"/>
              </a:rPr>
              <a:t>BioTeacher · bioteacher.uz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E6F65"/>
                </a:solidFill>
                <a:latin typeface="Calibr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1208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7843F"/>
                </a:solidFill>
                <a:latin typeface="Calibri"/>
              </a:rPr>
              <a:t>✓  Reyting yo'q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4663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261A"/>
                </a:solidFill>
                <a:latin typeface="Calibri"/>
              </a:rPr>
              <a:t>Talabalar bir-biri bilan solishtirilmaydi. Har kim faqat o'zining kechagi natijasi bilan.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1208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7843F"/>
                </a:solidFill>
                <a:latin typeface="Calibri"/>
              </a:rPr>
              <a:t>✓  Faqat o'zi ko'radi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23160"/>
            <a:ext cx="4663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261A"/>
                </a:solidFill>
                <a:latin typeface="Calibri"/>
              </a:rPr>
              <a:t>Talabaning natijasi, yozgan xulosalari boshqa talabaga ko'rinmaydi.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21208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6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7843F"/>
                </a:solidFill>
                <a:latin typeface="Calibri"/>
              </a:rPr>
              <a:t>✓  Rang qizil emas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26280"/>
            <a:ext cx="4663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261A"/>
                </a:solidFill>
                <a:latin typeface="Calibri"/>
              </a:rPr>
              <a:t>Past ball ham och yashil — «yomon» emas, «hali o'sadigan joy bor» degani.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40480"/>
            <a:ext cx="5212080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02336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7843F"/>
                </a:solidFill>
                <a:latin typeface="Calibri"/>
              </a:rPr>
              <a:t>✓  Xato — o'rganish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526280"/>
            <a:ext cx="4663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261A"/>
                </a:solidFill>
                <a:latin typeface="Calibri"/>
              </a:rPr>
              <a:t>Topshiriqni yuborgach javob ochiladi; qayta ishlashga ruxsat beriladi.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E5228"/>
                </a:solidFill>
                <a:latin typeface="Calibri"/>
              </a:rPr>
              <a:t>Hozir nima bor?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E6F65"/>
                </a:solidFill>
                <a:latin typeface="Calibri"/>
              </a:rPr>
              <a:t>Sayt tayyor va ishlab turibdi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F65"/>
                </a:solidFill>
                <a:latin typeface="Calibri"/>
              </a:rPr>
              <a:t>BioTeacher · bioteacher.uz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E6F65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383280" cy="1508760"/>
          </a:xfrm>
          <a:prstGeom prst="roundRect">
            <a:avLst>
              <a:gd name="adj" fmla="val 10000"/>
            </a:avLst>
          </a:prstGeom>
          <a:solidFill>
            <a:srgbClr val="EAF6EE"/>
          </a:solidFill>
          <a:ln w="15875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2926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7843F"/>
                </a:solidFill>
                <a:latin typeface="Calibri"/>
              </a:rPr>
              <a:t>340+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261A"/>
                </a:solidFill>
                <a:latin typeface="Calibri"/>
              </a:rPr>
              <a:t>sinov savoli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3383280" cy="1508760"/>
          </a:xfrm>
          <a:prstGeom prst="roundRect">
            <a:avLst>
              <a:gd name="adj" fmla="val 10000"/>
            </a:avLst>
          </a:prstGeom>
          <a:solidFill>
            <a:srgbClr val="EAF6EE"/>
          </a:solidFill>
          <a:ln w="15875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74520"/>
            <a:ext cx="2926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7843F"/>
                </a:solidFill>
                <a:latin typeface="Calibri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6517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261A"/>
                </a:solidFill>
                <a:latin typeface="Calibri"/>
              </a:rPr>
              <a:t>amaliy topshiriq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737360"/>
            <a:ext cx="3383280" cy="1508760"/>
          </a:xfrm>
          <a:prstGeom prst="roundRect">
            <a:avLst>
              <a:gd name="adj" fmla="val 10000"/>
            </a:avLst>
          </a:prstGeom>
          <a:solidFill>
            <a:srgbClr val="EAF6EE"/>
          </a:solidFill>
          <a:ln w="15875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874520"/>
            <a:ext cx="2926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7843F"/>
                </a:solidFill>
                <a:latin typeface="Calibri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6517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261A"/>
                </a:solidFill>
                <a:latin typeface="Calibri"/>
              </a:rPr>
              <a:t>dars (kengaymoqda)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3383280" cy="1508760"/>
          </a:xfrm>
          <a:prstGeom prst="roundRect">
            <a:avLst>
              <a:gd name="adj" fmla="val 10000"/>
            </a:avLst>
          </a:prstGeom>
          <a:solidFill>
            <a:srgbClr val="EAF6EE"/>
          </a:solidFill>
          <a:ln w="15875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611880"/>
            <a:ext cx="2926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7843F"/>
                </a:solidFill>
                <a:latin typeface="Calibri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3891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261A"/>
                </a:solidFill>
                <a:latin typeface="Calibri"/>
              </a:rPr>
              <a:t>yutuq nishoni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474720"/>
            <a:ext cx="3383280" cy="1508760"/>
          </a:xfrm>
          <a:prstGeom prst="roundRect">
            <a:avLst>
              <a:gd name="adj" fmla="val 10000"/>
            </a:avLst>
          </a:prstGeom>
          <a:solidFill>
            <a:srgbClr val="EAF6EE"/>
          </a:solidFill>
          <a:ln w="15875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3611880"/>
            <a:ext cx="2926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7843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3891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261A"/>
                </a:solidFill>
                <a:latin typeface="Calibri"/>
              </a:rPr>
              <a:t>oddiy rol: talaba va admin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80" y="3474720"/>
            <a:ext cx="3383280" cy="1508760"/>
          </a:xfrm>
          <a:prstGeom prst="roundRect">
            <a:avLst>
              <a:gd name="adj" fmla="val 10000"/>
            </a:avLst>
          </a:prstGeom>
          <a:solidFill>
            <a:srgbClr val="EAF6EE"/>
          </a:solidFill>
          <a:ln w="15875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3611880"/>
            <a:ext cx="2926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7843F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3891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261A"/>
                </a:solidFill>
                <a:latin typeface="Calibri"/>
              </a:rPr>
              <a:t>manzil: bioteacher.uz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E6F65"/>
                </a:solidFill>
                <a:latin typeface="Calibri"/>
              </a:rPr>
              <a:t>Admin kontentni (test, dars, topshiriq) saytning o'zida qo'shadi — dasturchiga bog'liqlik yo'q.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E5228"/>
                </a:solidFill>
                <a:latin typeface="Calibri"/>
              </a:rPr>
              <a:t>Keyingi qadam — sizdan nima kerak?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E6F65"/>
                </a:solidFill>
                <a:latin typeface="Calibri"/>
              </a:rPr>
              <a:t>Tajriba-sinovni boshlash uchun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6F65"/>
                </a:solidFill>
                <a:latin typeface="Calibri"/>
              </a:rPr>
              <a:t>BioTeacher · bioteacher.uz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E6F65"/>
                </a:solidFill>
                <a:latin typeface="Calibr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69848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011680"/>
            <a:ext cx="594360" cy="594360"/>
          </a:xfrm>
          <a:prstGeom prst="ellipse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847088"/>
            <a:ext cx="9326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5228"/>
                </a:solidFill>
                <a:latin typeface="Calibri"/>
              </a:rPr>
              <a:t>Talabalar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286000"/>
            <a:ext cx="9326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261A"/>
                </a:solidFill>
                <a:latin typeface="Calibri"/>
              </a:rPr>
              <a:t>Biologiya yo'nalishidan 2 ta akademik guruh (tajriba va nazorat), 3–4 oy davomida.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63240"/>
            <a:ext cx="1069848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3337560"/>
            <a:ext cx="594360" cy="594360"/>
          </a:xfrm>
          <a:prstGeom prst="ellipse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172968"/>
            <a:ext cx="9326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5228"/>
                </a:solidFill>
                <a:latin typeface="Calibri"/>
              </a:rPr>
              <a:t>Kontent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611880"/>
            <a:ext cx="9326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261A"/>
                </a:solidFill>
                <a:latin typeface="Calibri"/>
              </a:rPr>
              <a:t>Metodist/ilmiy rahbar bilan birga savollar va topshiriqlar bankini to'ldirish.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89120"/>
            <a:ext cx="1069848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" y="4663440"/>
            <a:ext cx="594360" cy="594360"/>
          </a:xfrm>
          <a:prstGeom prst="ellipse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498848"/>
            <a:ext cx="9326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5228"/>
                </a:solidFill>
                <a:latin typeface="Calibri"/>
              </a:rPr>
              <a:t>Rasmiy ruxsat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937760"/>
            <a:ext cx="9326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261A"/>
                </a:solidFill>
                <a:latin typeface="Calibri"/>
              </a:rPr>
              <a:t>Platformani o'quv jarayonida sinov tariqasida qo'llashga rozilik.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760720"/>
            <a:ext cx="10698480" cy="640080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 w="15875">
            <a:solidFill>
              <a:srgbClr val="F5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806440"/>
            <a:ext cx="10149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C26A00"/>
                </a:solidFill>
                <a:latin typeface="Calibri"/>
              </a:rPr>
              <a:t>Natija: 4 oydan keyin ikki guruhning raqamli taqqoslanishi — metodikaning samaradorligi isboti.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5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BFE9CC"/>
                </a:solidFill>
                <a:latin typeface="Calibri"/>
              </a:rPr>
              <a:t>Bir jumlada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BioTeacher — talabaning o'qituvchilik mahoratini</a:t>
            </a:r>
          </a:p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o'lchaydigan, yo'naltiradigan va o'stiradigan sayt.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480560"/>
            <a:ext cx="2286000" cy="54864"/>
          </a:xfrm>
          <a:prstGeom prst="rect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E'tiboringiz uchun rahmat!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FE9CC"/>
                </a:solidFill>
                <a:latin typeface="Calibri"/>
              </a:rPr>
              <a:t>bioteacher.uz  ·  jonli ko'rsatishga tayyor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